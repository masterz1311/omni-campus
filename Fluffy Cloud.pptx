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Inter" panose="020B0604020202020204" charset="0"/>
      <p:regular r:id="rId11"/>
    </p:embeddedFont>
    <p:embeddedFont>
      <p:font typeface="Inter Bold" panose="020B0604020202020204" charset="0"/>
      <p:regular r:id="rId12"/>
    </p:embeddedFont>
    <p:embeddedFont>
      <p:font typeface="Red Hat Display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894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svg"/><Relationship Id="rId18" Type="http://schemas.openxmlformats.org/officeDocument/2006/relationships/image" Target="../media/image20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12" Type="http://schemas.openxmlformats.org/officeDocument/2006/relationships/image" Target="../media/image14.svg"/><Relationship Id="rId17" Type="http://schemas.openxmlformats.org/officeDocument/2006/relationships/image" Target="../media/image19.svg"/><Relationship Id="rId2" Type="http://schemas.openxmlformats.org/officeDocument/2006/relationships/image" Target="../media/image1.png"/><Relationship Id="rId16" Type="http://schemas.openxmlformats.org/officeDocument/2006/relationships/image" Target="../media/image18.svg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5" Type="http://schemas.openxmlformats.org/officeDocument/2006/relationships/image" Target="../media/image17.svg"/><Relationship Id="rId10" Type="http://schemas.openxmlformats.org/officeDocument/2006/relationships/image" Target="../media/image12.svg"/><Relationship Id="rId19" Type="http://schemas.openxmlformats.org/officeDocument/2006/relationships/image" Target="../media/image21.svg"/><Relationship Id="rId4" Type="http://schemas.openxmlformats.org/officeDocument/2006/relationships/image" Target="../media/image6.svg"/><Relationship Id="rId9" Type="http://schemas.openxmlformats.org/officeDocument/2006/relationships/image" Target="../media/image11.svg"/><Relationship Id="rId14" Type="http://schemas.openxmlformats.org/officeDocument/2006/relationships/image" Target="../media/image16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5.svg"/><Relationship Id="rId7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4.png"/><Relationship Id="rId9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5.svg"/><Relationship Id="rId7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svg"/><Relationship Id="rId10" Type="http://schemas.openxmlformats.org/officeDocument/2006/relationships/image" Target="../media/image32.png"/><Relationship Id="rId4" Type="http://schemas.openxmlformats.org/officeDocument/2006/relationships/image" Target="../media/image4.png"/><Relationship Id="rId9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5.svg"/><Relationship Id="rId7" Type="http://schemas.openxmlformats.org/officeDocument/2006/relationships/image" Target="../media/image35.png"/><Relationship Id="rId12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11" Type="http://schemas.openxmlformats.org/officeDocument/2006/relationships/image" Target="../media/image31.png"/><Relationship Id="rId5" Type="http://schemas.openxmlformats.org/officeDocument/2006/relationships/image" Target="../media/image33.png"/><Relationship Id="rId10" Type="http://schemas.openxmlformats.org/officeDocument/2006/relationships/image" Target="../media/image22.png"/><Relationship Id="rId4" Type="http://schemas.openxmlformats.org/officeDocument/2006/relationships/image" Target="../media/image4.png"/><Relationship Id="rId9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13" Type="http://schemas.openxmlformats.org/officeDocument/2006/relationships/image" Target="../media/image48.svg"/><Relationship Id="rId18" Type="http://schemas.openxmlformats.org/officeDocument/2006/relationships/image" Target="../media/image53.svg"/><Relationship Id="rId3" Type="http://schemas.openxmlformats.org/officeDocument/2006/relationships/image" Target="../media/image38.svg"/><Relationship Id="rId7" Type="http://schemas.openxmlformats.org/officeDocument/2006/relationships/image" Target="../media/image42.svg"/><Relationship Id="rId12" Type="http://schemas.openxmlformats.org/officeDocument/2006/relationships/image" Target="../media/image47.svg"/><Relationship Id="rId17" Type="http://schemas.openxmlformats.org/officeDocument/2006/relationships/image" Target="../media/image52.svg"/><Relationship Id="rId2" Type="http://schemas.openxmlformats.org/officeDocument/2006/relationships/image" Target="../media/image1.png"/><Relationship Id="rId16" Type="http://schemas.openxmlformats.org/officeDocument/2006/relationships/image" Target="../media/image5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svg"/><Relationship Id="rId11" Type="http://schemas.openxmlformats.org/officeDocument/2006/relationships/image" Target="../media/image46.svg"/><Relationship Id="rId5" Type="http://schemas.openxmlformats.org/officeDocument/2006/relationships/image" Target="../media/image40.svg"/><Relationship Id="rId15" Type="http://schemas.openxmlformats.org/officeDocument/2006/relationships/image" Target="../media/image50.svg"/><Relationship Id="rId10" Type="http://schemas.openxmlformats.org/officeDocument/2006/relationships/image" Target="../media/image45.svg"/><Relationship Id="rId19" Type="http://schemas.openxmlformats.org/officeDocument/2006/relationships/image" Target="../media/image4.png"/><Relationship Id="rId4" Type="http://schemas.openxmlformats.org/officeDocument/2006/relationships/image" Target="../media/image39.png"/><Relationship Id="rId9" Type="http://schemas.openxmlformats.org/officeDocument/2006/relationships/image" Target="../media/image44.svg"/><Relationship Id="rId14" Type="http://schemas.openxmlformats.org/officeDocument/2006/relationships/image" Target="../media/image4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4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8051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2568035" y="4897831"/>
            <a:ext cx="3628282" cy="795614"/>
          </a:xfrm>
          <a:custGeom>
            <a:avLst/>
            <a:gdLst/>
            <a:ahLst/>
            <a:cxnLst/>
            <a:rect l="l" t="t" r="r" b="b"/>
            <a:pathLst>
              <a:path w="3628282" h="795614">
                <a:moveTo>
                  <a:pt x="0" y="0"/>
                </a:moveTo>
                <a:lnTo>
                  <a:pt x="3628282" y="0"/>
                </a:lnTo>
                <a:lnTo>
                  <a:pt x="3628282" y="795614"/>
                </a:lnTo>
                <a:lnTo>
                  <a:pt x="0" y="7956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3170100" y="608382"/>
            <a:ext cx="11947800" cy="3015035"/>
            <a:chOff x="0" y="0"/>
            <a:chExt cx="15930400" cy="402004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869153" cy="4020047"/>
            </a:xfrm>
            <a:custGeom>
              <a:avLst/>
              <a:gdLst/>
              <a:ahLst/>
              <a:cxnLst/>
              <a:rect l="l" t="t" r="r" b="b"/>
              <a:pathLst>
                <a:path w="12869153" h="4020047">
                  <a:moveTo>
                    <a:pt x="0" y="0"/>
                  </a:moveTo>
                  <a:lnTo>
                    <a:pt x="12869153" y="0"/>
                  </a:lnTo>
                  <a:lnTo>
                    <a:pt x="12869153" y="4020047"/>
                  </a:lnTo>
                  <a:lnTo>
                    <a:pt x="0" y="40200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40034" b="-4003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12577053" y="241300"/>
              <a:ext cx="3353347" cy="3353347"/>
            </a:xfrm>
            <a:custGeom>
              <a:avLst/>
              <a:gdLst/>
              <a:ahLst/>
              <a:cxnLst/>
              <a:rect l="l" t="t" r="r" b="b"/>
              <a:pathLst>
                <a:path w="3353347" h="3353347">
                  <a:moveTo>
                    <a:pt x="0" y="0"/>
                  </a:moveTo>
                  <a:lnTo>
                    <a:pt x="3353347" y="0"/>
                  </a:lnTo>
                  <a:lnTo>
                    <a:pt x="3353347" y="3353347"/>
                  </a:lnTo>
                  <a:lnTo>
                    <a:pt x="0" y="3353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35935" y="6362700"/>
            <a:ext cx="15881361" cy="25791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013"/>
              </a:lnSpc>
            </a:pPr>
            <a:r>
              <a:rPr lang="en-US" sz="3600" b="1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Team Name : </a:t>
            </a:r>
            <a:r>
              <a:rPr lang="en-US" sz="3600" i="1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Fluffy Cloud</a:t>
            </a:r>
          </a:p>
          <a:p>
            <a:pPr algn="l">
              <a:lnSpc>
                <a:spcPts val="7014"/>
              </a:lnSpc>
            </a:pPr>
            <a:r>
              <a:rPr lang="en-US" sz="3600" b="1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Problem statement ID : </a:t>
            </a:r>
            <a:r>
              <a:rPr lang="en-US" sz="3600" i="1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GEN-002</a:t>
            </a:r>
          </a:p>
          <a:p>
            <a:pPr algn="l">
              <a:lnSpc>
                <a:spcPts val="7013"/>
              </a:lnSpc>
            </a:pPr>
            <a:r>
              <a:rPr lang="en-US" sz="3600" b="1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Title of Problem statement : </a:t>
            </a:r>
            <a:r>
              <a:rPr lang="en-US" sz="3600" i="1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Smart Campus Report Management System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532632" y="3543300"/>
            <a:ext cx="6887968" cy="10347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90"/>
              </a:lnSpc>
              <a:spcBef>
                <a:spcPct val="0"/>
              </a:spcBef>
            </a:pPr>
            <a:r>
              <a:rPr lang="en-US" sz="6064" b="1" dirty="0" err="1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ZeroX</a:t>
            </a:r>
            <a:r>
              <a:rPr lang="en-US" sz="6064" b="1" dirty="0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Hackathon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-63503" y="-63503"/>
            <a:ext cx="18414997" cy="10413997"/>
          </a:xfrm>
          <a:custGeom>
            <a:avLst/>
            <a:gdLst/>
            <a:ahLst/>
            <a:cxnLst/>
            <a:rect l="l" t="t" r="r" b="b"/>
            <a:pathLst>
              <a:path w="18414997" h="10413997">
                <a:moveTo>
                  <a:pt x="0" y="0"/>
                </a:moveTo>
                <a:lnTo>
                  <a:pt x="18414997" y="0"/>
                </a:lnTo>
                <a:lnTo>
                  <a:pt x="18414997" y="10413997"/>
                </a:lnTo>
                <a:lnTo>
                  <a:pt x="0" y="104139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2282057" y="2969914"/>
            <a:ext cx="1042397" cy="514350"/>
          </a:xfrm>
          <a:custGeom>
            <a:avLst/>
            <a:gdLst/>
            <a:ahLst/>
            <a:cxnLst/>
            <a:rect l="l" t="t" r="r" b="b"/>
            <a:pathLst>
              <a:path w="1042397" h="514350">
                <a:moveTo>
                  <a:pt x="0" y="0"/>
                </a:moveTo>
                <a:lnTo>
                  <a:pt x="1042397" y="0"/>
                </a:lnTo>
                <a:lnTo>
                  <a:pt x="1042397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2282057" y="4391187"/>
            <a:ext cx="1042397" cy="514350"/>
          </a:xfrm>
          <a:custGeom>
            <a:avLst/>
            <a:gdLst/>
            <a:ahLst/>
            <a:cxnLst/>
            <a:rect l="l" t="t" r="r" b="b"/>
            <a:pathLst>
              <a:path w="1042397" h="514350">
                <a:moveTo>
                  <a:pt x="0" y="0"/>
                </a:moveTo>
                <a:lnTo>
                  <a:pt x="1042397" y="0"/>
                </a:lnTo>
                <a:lnTo>
                  <a:pt x="1042397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2282057" y="5813450"/>
            <a:ext cx="1042397" cy="514350"/>
          </a:xfrm>
          <a:custGeom>
            <a:avLst/>
            <a:gdLst/>
            <a:ahLst/>
            <a:cxnLst/>
            <a:rect l="l" t="t" r="r" b="b"/>
            <a:pathLst>
              <a:path w="1042397" h="514350">
                <a:moveTo>
                  <a:pt x="0" y="0"/>
                </a:moveTo>
                <a:lnTo>
                  <a:pt x="1042397" y="0"/>
                </a:lnTo>
                <a:lnTo>
                  <a:pt x="1042397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2282057" y="7235704"/>
            <a:ext cx="1042397" cy="514350"/>
          </a:xfrm>
          <a:custGeom>
            <a:avLst/>
            <a:gdLst/>
            <a:ahLst/>
            <a:cxnLst/>
            <a:rect l="l" t="t" r="r" b="b"/>
            <a:pathLst>
              <a:path w="1042397" h="514350">
                <a:moveTo>
                  <a:pt x="0" y="0"/>
                </a:moveTo>
                <a:lnTo>
                  <a:pt x="1042397" y="0"/>
                </a:lnTo>
                <a:lnTo>
                  <a:pt x="1042397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6006951" y="2969914"/>
            <a:ext cx="2238575" cy="514350"/>
          </a:xfrm>
          <a:custGeom>
            <a:avLst/>
            <a:gdLst/>
            <a:ahLst/>
            <a:cxnLst/>
            <a:rect l="l" t="t" r="r" b="b"/>
            <a:pathLst>
              <a:path w="2238575" h="514350">
                <a:moveTo>
                  <a:pt x="0" y="0"/>
                </a:moveTo>
                <a:lnTo>
                  <a:pt x="2238575" y="0"/>
                </a:lnTo>
                <a:lnTo>
                  <a:pt x="2238575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6006951" y="4391187"/>
            <a:ext cx="2238575" cy="514350"/>
          </a:xfrm>
          <a:custGeom>
            <a:avLst/>
            <a:gdLst/>
            <a:ahLst/>
            <a:cxnLst/>
            <a:rect l="l" t="t" r="r" b="b"/>
            <a:pathLst>
              <a:path w="2238575" h="514350">
                <a:moveTo>
                  <a:pt x="0" y="0"/>
                </a:moveTo>
                <a:lnTo>
                  <a:pt x="2238575" y="0"/>
                </a:lnTo>
                <a:lnTo>
                  <a:pt x="2238575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6006951" y="5813450"/>
            <a:ext cx="2238575" cy="514350"/>
          </a:xfrm>
          <a:custGeom>
            <a:avLst/>
            <a:gdLst/>
            <a:ahLst/>
            <a:cxnLst/>
            <a:rect l="l" t="t" r="r" b="b"/>
            <a:pathLst>
              <a:path w="2238575" h="514350">
                <a:moveTo>
                  <a:pt x="0" y="0"/>
                </a:moveTo>
                <a:lnTo>
                  <a:pt x="2238575" y="0"/>
                </a:lnTo>
                <a:lnTo>
                  <a:pt x="2238575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6006951" y="7235704"/>
            <a:ext cx="2238575" cy="514350"/>
          </a:xfrm>
          <a:custGeom>
            <a:avLst/>
            <a:gdLst/>
            <a:ahLst/>
            <a:cxnLst/>
            <a:rect l="l" t="t" r="r" b="b"/>
            <a:pathLst>
              <a:path w="2238575" h="514350">
                <a:moveTo>
                  <a:pt x="0" y="0"/>
                </a:moveTo>
                <a:lnTo>
                  <a:pt x="2238575" y="0"/>
                </a:lnTo>
                <a:lnTo>
                  <a:pt x="2238575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0795483" y="2969914"/>
            <a:ext cx="709022" cy="514350"/>
          </a:xfrm>
          <a:custGeom>
            <a:avLst/>
            <a:gdLst/>
            <a:ahLst/>
            <a:cxnLst/>
            <a:rect l="l" t="t" r="r" b="b"/>
            <a:pathLst>
              <a:path w="709022" h="514350">
                <a:moveTo>
                  <a:pt x="0" y="0"/>
                </a:moveTo>
                <a:lnTo>
                  <a:pt x="709022" y="0"/>
                </a:lnTo>
                <a:lnTo>
                  <a:pt x="709022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0795483" y="4391187"/>
            <a:ext cx="709022" cy="514350"/>
          </a:xfrm>
          <a:custGeom>
            <a:avLst/>
            <a:gdLst/>
            <a:ahLst/>
            <a:cxnLst/>
            <a:rect l="l" t="t" r="r" b="b"/>
            <a:pathLst>
              <a:path w="709022" h="514350">
                <a:moveTo>
                  <a:pt x="0" y="0"/>
                </a:moveTo>
                <a:lnTo>
                  <a:pt x="709022" y="0"/>
                </a:lnTo>
                <a:lnTo>
                  <a:pt x="709022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0795483" y="5813450"/>
            <a:ext cx="709022" cy="514350"/>
          </a:xfrm>
          <a:custGeom>
            <a:avLst/>
            <a:gdLst/>
            <a:ahLst/>
            <a:cxnLst/>
            <a:rect l="l" t="t" r="r" b="b"/>
            <a:pathLst>
              <a:path w="709022" h="514350">
                <a:moveTo>
                  <a:pt x="0" y="0"/>
                </a:moveTo>
                <a:lnTo>
                  <a:pt x="709022" y="0"/>
                </a:lnTo>
                <a:lnTo>
                  <a:pt x="709022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10795483" y="7235704"/>
            <a:ext cx="709022" cy="514350"/>
          </a:xfrm>
          <a:custGeom>
            <a:avLst/>
            <a:gdLst/>
            <a:ahLst/>
            <a:cxnLst/>
            <a:rect l="l" t="t" r="r" b="b"/>
            <a:pathLst>
              <a:path w="709022" h="514350">
                <a:moveTo>
                  <a:pt x="0" y="0"/>
                </a:moveTo>
                <a:lnTo>
                  <a:pt x="709022" y="0"/>
                </a:lnTo>
                <a:lnTo>
                  <a:pt x="709022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4023000" y="4391187"/>
            <a:ext cx="1475480" cy="514350"/>
          </a:xfrm>
          <a:custGeom>
            <a:avLst/>
            <a:gdLst/>
            <a:ahLst/>
            <a:cxnLst/>
            <a:rect l="l" t="t" r="r" b="b"/>
            <a:pathLst>
              <a:path w="1475480" h="514350">
                <a:moveTo>
                  <a:pt x="0" y="0"/>
                </a:moveTo>
                <a:lnTo>
                  <a:pt x="1475480" y="0"/>
                </a:lnTo>
                <a:lnTo>
                  <a:pt x="147548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4023000" y="5813450"/>
            <a:ext cx="1475480" cy="514350"/>
          </a:xfrm>
          <a:custGeom>
            <a:avLst/>
            <a:gdLst/>
            <a:ahLst/>
            <a:cxnLst/>
            <a:rect l="l" t="t" r="r" b="b"/>
            <a:pathLst>
              <a:path w="1475480" h="514350">
                <a:moveTo>
                  <a:pt x="0" y="0"/>
                </a:moveTo>
                <a:lnTo>
                  <a:pt x="1475480" y="0"/>
                </a:lnTo>
                <a:lnTo>
                  <a:pt x="147548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14023000" y="7235704"/>
            <a:ext cx="1475480" cy="514350"/>
          </a:xfrm>
          <a:custGeom>
            <a:avLst/>
            <a:gdLst/>
            <a:ahLst/>
            <a:cxnLst/>
            <a:rect l="l" t="t" r="r" b="b"/>
            <a:pathLst>
              <a:path w="1475480" h="514350">
                <a:moveTo>
                  <a:pt x="0" y="0"/>
                </a:moveTo>
                <a:lnTo>
                  <a:pt x="1475480" y="0"/>
                </a:lnTo>
                <a:lnTo>
                  <a:pt x="147548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3996359" y="2969914"/>
            <a:ext cx="2307831" cy="514350"/>
          </a:xfrm>
          <a:custGeom>
            <a:avLst/>
            <a:gdLst/>
            <a:ahLst/>
            <a:cxnLst/>
            <a:rect l="l" t="t" r="r" b="b"/>
            <a:pathLst>
              <a:path w="2307831" h="514350">
                <a:moveTo>
                  <a:pt x="0" y="0"/>
                </a:moveTo>
                <a:lnTo>
                  <a:pt x="2307831" y="0"/>
                </a:lnTo>
                <a:lnTo>
                  <a:pt x="2307831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2359924" y="881567"/>
            <a:ext cx="4955276" cy="9219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838"/>
              </a:lnSpc>
            </a:pPr>
            <a:r>
              <a:rPr lang="en-US" sz="5599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Fluffy Cloud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809745" y="2862292"/>
            <a:ext cx="3746021" cy="33525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00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Thenappan T</a:t>
            </a:r>
          </a:p>
          <a:p>
            <a:pPr algn="ctr">
              <a:lnSpc>
                <a:spcPts val="7263"/>
              </a:lnSpc>
            </a:pPr>
            <a:r>
              <a:rPr lang="en-US" sz="300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Viswanathan Ashok</a:t>
            </a:r>
          </a:p>
          <a:p>
            <a:pPr algn="ctr">
              <a:lnSpc>
                <a:spcPts val="7500"/>
              </a:lnSpc>
            </a:pPr>
            <a:r>
              <a:rPr lang="en-US" sz="300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Puja Mandal</a:t>
            </a:r>
          </a:p>
          <a:p>
            <a:pPr algn="ctr">
              <a:lnSpc>
                <a:spcPts val="7500"/>
              </a:lnSpc>
            </a:pPr>
            <a:r>
              <a:rPr lang="en-US" sz="3000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Mahithaa</a:t>
            </a:r>
            <a:r>
              <a:rPr lang="en-US" sz="300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S G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351247" y="2768942"/>
            <a:ext cx="3578076" cy="5729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240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Sathyabama University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000002" y="2865434"/>
            <a:ext cx="3093987" cy="3352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00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Chennai</a:t>
            </a:r>
          </a:p>
          <a:p>
            <a:pPr algn="ctr">
              <a:lnSpc>
                <a:spcPts val="7263"/>
              </a:lnSpc>
            </a:pPr>
            <a:r>
              <a:rPr lang="en-US" sz="300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Chennai</a:t>
            </a:r>
          </a:p>
          <a:p>
            <a:pPr algn="ctr">
              <a:lnSpc>
                <a:spcPts val="7500"/>
              </a:lnSpc>
            </a:pPr>
            <a:r>
              <a:rPr lang="en-US" sz="300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Chennai</a:t>
            </a:r>
          </a:p>
          <a:p>
            <a:pPr algn="ctr">
              <a:lnSpc>
                <a:spcPts val="7500"/>
              </a:lnSpc>
            </a:pPr>
            <a:r>
              <a:rPr lang="en-US" sz="300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Chennai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269932" y="2865434"/>
            <a:ext cx="2981616" cy="588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040"/>
              </a:lnSpc>
            </a:pPr>
            <a:r>
              <a:rPr lang="en-US" sz="3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Team Leader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508031" y="3761765"/>
            <a:ext cx="3284486" cy="2308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Member</a:t>
            </a:r>
          </a:p>
          <a:p>
            <a:pPr algn="ctr">
              <a:lnSpc>
                <a:spcPts val="7278"/>
              </a:lnSpc>
            </a:pPr>
            <a:r>
              <a:rPr lang="en-US" sz="3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Member</a:t>
            </a:r>
          </a:p>
          <a:p>
            <a:pPr algn="ctr">
              <a:lnSpc>
                <a:spcPts val="7500"/>
              </a:lnSpc>
            </a:pPr>
            <a:r>
              <a:rPr lang="en-US" sz="3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Member</a:t>
            </a:r>
          </a:p>
        </p:txBody>
      </p:sp>
      <p:sp>
        <p:nvSpPr>
          <p:cNvPr id="27" name="Freeform 27"/>
          <p:cNvSpPr/>
          <p:nvPr/>
        </p:nvSpPr>
        <p:spPr>
          <a:xfrm>
            <a:off x="14810965" y="180975"/>
            <a:ext cx="2515010" cy="2515010"/>
          </a:xfrm>
          <a:custGeom>
            <a:avLst/>
            <a:gdLst/>
            <a:ahLst/>
            <a:cxnLst/>
            <a:rect l="l" t="t" r="r" b="b"/>
            <a:pathLst>
              <a:path w="2515010" h="2515010">
                <a:moveTo>
                  <a:pt x="0" y="0"/>
                </a:moveTo>
                <a:lnTo>
                  <a:pt x="2515010" y="0"/>
                </a:lnTo>
                <a:lnTo>
                  <a:pt x="2515010" y="2515010"/>
                </a:lnTo>
                <a:lnTo>
                  <a:pt x="0" y="251501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TextBox 23">
            <a:extLst>
              <a:ext uri="{FF2B5EF4-FFF2-40B4-BE49-F238E27FC236}">
                <a16:creationId xmlns:a16="http://schemas.microsoft.com/office/drawing/2014/main" id="{CEC5D264-911C-FF50-0798-3119C6DAC7C1}"/>
              </a:ext>
            </a:extLst>
          </p:cNvPr>
          <p:cNvSpPr txBox="1"/>
          <p:nvPr/>
        </p:nvSpPr>
        <p:spPr>
          <a:xfrm>
            <a:off x="6351247" y="3681514"/>
            <a:ext cx="3578076" cy="5729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240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Sathyabama University</a:t>
            </a:r>
          </a:p>
        </p:txBody>
      </p:sp>
      <p:sp>
        <p:nvSpPr>
          <p:cNvPr id="29" name="TextBox 23">
            <a:extLst>
              <a:ext uri="{FF2B5EF4-FFF2-40B4-BE49-F238E27FC236}">
                <a16:creationId xmlns:a16="http://schemas.microsoft.com/office/drawing/2014/main" id="{A780CBD3-7F78-DDD5-6A16-F6BAC09DBADF}"/>
              </a:ext>
            </a:extLst>
          </p:cNvPr>
          <p:cNvSpPr txBox="1"/>
          <p:nvPr/>
        </p:nvSpPr>
        <p:spPr>
          <a:xfrm>
            <a:off x="6318422" y="4584275"/>
            <a:ext cx="3578076" cy="5729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240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Sathyabama University</a:t>
            </a:r>
          </a:p>
        </p:txBody>
      </p:sp>
      <p:sp>
        <p:nvSpPr>
          <p:cNvPr id="30" name="TextBox 23">
            <a:extLst>
              <a:ext uri="{FF2B5EF4-FFF2-40B4-BE49-F238E27FC236}">
                <a16:creationId xmlns:a16="http://schemas.microsoft.com/office/drawing/2014/main" id="{73E7A6BF-99AE-91C4-A988-E7CDAEB174F4}"/>
              </a:ext>
            </a:extLst>
          </p:cNvPr>
          <p:cNvSpPr txBox="1"/>
          <p:nvPr/>
        </p:nvSpPr>
        <p:spPr>
          <a:xfrm>
            <a:off x="6356087" y="5519274"/>
            <a:ext cx="3578076" cy="5729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240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Sathyabama University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Resource Chaos in Modern Campuses</a:t>
            </a:r>
          </a:p>
        </p:txBody>
      </p:sp>
      <p:sp>
        <p:nvSpPr>
          <p:cNvPr id="4" name="Freeform 4"/>
          <p:cNvSpPr/>
          <p:nvPr/>
        </p:nvSpPr>
        <p:spPr>
          <a:xfrm>
            <a:off x="-63503" y="-63503"/>
            <a:ext cx="18414997" cy="10413997"/>
          </a:xfrm>
          <a:custGeom>
            <a:avLst/>
            <a:gdLst/>
            <a:ahLst/>
            <a:cxnLst/>
            <a:rect l="l" t="t" r="r" b="b"/>
            <a:pathLst>
              <a:path w="18414997" h="10413997">
                <a:moveTo>
                  <a:pt x="0" y="0"/>
                </a:moveTo>
                <a:lnTo>
                  <a:pt x="18414997" y="0"/>
                </a:lnTo>
                <a:lnTo>
                  <a:pt x="18414997" y="10413997"/>
                </a:lnTo>
                <a:lnTo>
                  <a:pt x="0" y="104139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880351" y="923925"/>
            <a:ext cx="6696551" cy="953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38"/>
              </a:lnSpc>
            </a:pPr>
            <a:r>
              <a:rPr lang="en-US" sz="5599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Problem statement </a:t>
            </a:r>
          </a:p>
        </p:txBody>
      </p:sp>
      <p:sp>
        <p:nvSpPr>
          <p:cNvPr id="7" name="Freeform 7"/>
          <p:cNvSpPr/>
          <p:nvPr/>
        </p:nvSpPr>
        <p:spPr>
          <a:xfrm>
            <a:off x="14810965" y="180975"/>
            <a:ext cx="2515010" cy="2515010"/>
          </a:xfrm>
          <a:custGeom>
            <a:avLst/>
            <a:gdLst/>
            <a:ahLst/>
            <a:cxnLst/>
            <a:rect l="l" t="t" r="r" b="b"/>
            <a:pathLst>
              <a:path w="2515010" h="2515010">
                <a:moveTo>
                  <a:pt x="0" y="0"/>
                </a:moveTo>
                <a:lnTo>
                  <a:pt x="2515010" y="0"/>
                </a:lnTo>
                <a:lnTo>
                  <a:pt x="2515010" y="2515010"/>
                </a:lnTo>
                <a:lnTo>
                  <a:pt x="0" y="25150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5705BE-5772-6B70-4DDF-E25E1E81F5DE}"/>
              </a:ext>
            </a:extLst>
          </p:cNvPr>
          <p:cNvSpPr txBox="1"/>
          <p:nvPr/>
        </p:nvSpPr>
        <p:spPr>
          <a:xfrm>
            <a:off x="4321096" y="2174044"/>
            <a:ext cx="9677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i="1" dirty="0">
                <a:solidFill>
                  <a:schemeClr val="bg1"/>
                </a:solidFill>
              </a:rPr>
              <a:t>Resource Chaos in Modern Campuses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A631A9-AC95-CE64-07FD-B4E819B4FC8D}"/>
              </a:ext>
            </a:extLst>
          </p:cNvPr>
          <p:cNvSpPr txBox="1"/>
          <p:nvPr/>
        </p:nvSpPr>
        <p:spPr>
          <a:xfrm>
            <a:off x="2314165" y="3832194"/>
            <a:ext cx="124968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 Classrooms &amp; labs remain </a:t>
            </a:r>
            <a:r>
              <a:rPr lang="en-US" sz="3200" b="1" dirty="0">
                <a:solidFill>
                  <a:schemeClr val="bg1"/>
                </a:solidFill>
              </a:rPr>
              <a:t>underutilized</a:t>
            </a:r>
            <a:r>
              <a:rPr lang="en-US" sz="3200" dirty="0">
                <a:solidFill>
                  <a:schemeClr val="bg1"/>
                </a:solidFill>
              </a:rPr>
              <a:t> or </a:t>
            </a:r>
            <a:r>
              <a:rPr lang="en-US" sz="3200" b="1" dirty="0">
                <a:solidFill>
                  <a:schemeClr val="bg1"/>
                </a:solidFill>
              </a:rPr>
              <a:t>double-booked</a:t>
            </a:r>
          </a:p>
          <a:p>
            <a:endParaRPr lang="en-US" sz="3200" b="1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</a:rPr>
              <a:t> Equipment availability is </a:t>
            </a:r>
            <a:r>
              <a:rPr lang="en-US" sz="3200" b="1" dirty="0">
                <a:solidFill>
                  <a:schemeClr val="bg1"/>
                </a:solidFill>
              </a:rPr>
              <a:t>unclear</a:t>
            </a:r>
          </a:p>
          <a:p>
            <a:endParaRPr lang="en-US" sz="3200" b="1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</a:rPr>
              <a:t> Scheduling is </a:t>
            </a:r>
            <a:r>
              <a:rPr lang="en-US" sz="3200" b="1" dirty="0">
                <a:solidFill>
                  <a:schemeClr val="bg1"/>
                </a:solidFill>
              </a:rPr>
              <a:t>manual and inefficient</a:t>
            </a:r>
          </a:p>
          <a:p>
            <a:endParaRPr lang="en-US" sz="3200" b="1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</a:rPr>
              <a:t> Parking, buses, gyms, and common facilities lack </a:t>
            </a:r>
            <a:r>
              <a:rPr lang="en-US" sz="3200" b="1" dirty="0">
                <a:solidFill>
                  <a:schemeClr val="bg1"/>
                </a:solidFill>
              </a:rPr>
              <a:t>real-time visibility</a:t>
            </a:r>
          </a:p>
          <a:p>
            <a:endParaRPr lang="en-US" sz="3200" b="1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</a:rPr>
              <a:t> Administrators have </a:t>
            </a:r>
            <a:r>
              <a:rPr lang="en-US" sz="3200" b="1" dirty="0">
                <a:solidFill>
                  <a:schemeClr val="bg1"/>
                </a:solidFill>
              </a:rPr>
              <a:t>limited insights</a:t>
            </a:r>
            <a:r>
              <a:rPr lang="en-US" sz="3200" dirty="0">
                <a:solidFill>
                  <a:schemeClr val="bg1"/>
                </a:solidFill>
              </a:rPr>
              <a:t> for planning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EAB961-BCDD-74E1-1819-0E342996B1B1}"/>
              </a:ext>
            </a:extLst>
          </p:cNvPr>
          <p:cNvSpPr txBox="1"/>
          <p:nvPr/>
        </p:nvSpPr>
        <p:spPr>
          <a:xfrm>
            <a:off x="6019800" y="9236426"/>
            <a:ext cx="118051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Campuses own valuable resources but lack a smart system to manage them efficiently.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8DF15A5-3FEB-E47C-563D-B95DBEA1DF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92200" y="3611988"/>
            <a:ext cx="935411" cy="93541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3F88C74-02FC-F6FE-2A18-C3A3CE5A91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0532" y="4743437"/>
            <a:ext cx="800116" cy="80011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D817787-D89F-38A6-0905-DD33FFD8CB6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29207" y="5427316"/>
            <a:ext cx="864173" cy="86417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5CDF998-2EFA-5782-1604-66D9723C8AC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21775" y="6632734"/>
            <a:ext cx="935411" cy="93541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962CB64-CE91-E466-1639-686D81A29C1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3248" y="7354419"/>
            <a:ext cx="864363" cy="8643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-63503" y="-63503"/>
            <a:ext cx="18414997" cy="10413997"/>
          </a:xfrm>
          <a:custGeom>
            <a:avLst/>
            <a:gdLst/>
            <a:ahLst/>
            <a:cxnLst/>
            <a:rect l="l" t="t" r="r" b="b"/>
            <a:pathLst>
              <a:path w="18414997" h="10413997">
                <a:moveTo>
                  <a:pt x="0" y="0"/>
                </a:moveTo>
                <a:lnTo>
                  <a:pt x="18414997" y="0"/>
                </a:lnTo>
                <a:lnTo>
                  <a:pt x="18414997" y="10413997"/>
                </a:lnTo>
                <a:lnTo>
                  <a:pt x="0" y="104139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15695238" y="306610"/>
            <a:ext cx="2093462" cy="1827667"/>
            <a:chOff x="0" y="0"/>
            <a:chExt cx="2791282" cy="243688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91333" cy="2436876"/>
            </a:xfrm>
            <a:custGeom>
              <a:avLst/>
              <a:gdLst/>
              <a:ahLst/>
              <a:cxnLst/>
              <a:rect l="l" t="t" r="r" b="b"/>
              <a:pathLst>
                <a:path w="2791333" h="2436876">
                  <a:moveTo>
                    <a:pt x="0" y="0"/>
                  </a:moveTo>
                  <a:lnTo>
                    <a:pt x="2791333" y="0"/>
                  </a:lnTo>
                  <a:lnTo>
                    <a:pt x="2791333" y="2436876"/>
                  </a:lnTo>
                  <a:lnTo>
                    <a:pt x="0" y="2436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272" b="-727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15695238" y="306610"/>
            <a:ext cx="2093462" cy="1827667"/>
          </a:xfrm>
          <a:custGeom>
            <a:avLst/>
            <a:gdLst/>
            <a:ahLst/>
            <a:cxnLst/>
            <a:rect l="l" t="t" r="r" b="b"/>
            <a:pathLst>
              <a:path w="2093462" h="1827667">
                <a:moveTo>
                  <a:pt x="0" y="0"/>
                </a:moveTo>
                <a:lnTo>
                  <a:pt x="2093462" y="0"/>
                </a:lnTo>
                <a:lnTo>
                  <a:pt x="2093462" y="1827666"/>
                </a:lnTo>
                <a:lnTo>
                  <a:pt x="0" y="18276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981200" y="673875"/>
            <a:ext cx="4042515" cy="1106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06"/>
              </a:lnSpc>
            </a:pPr>
            <a:r>
              <a:rPr lang="en-US" sz="5599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Solution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12B99D-E3FD-5EE9-0B40-41EB766A9C58}"/>
              </a:ext>
            </a:extLst>
          </p:cNvPr>
          <p:cNvSpPr txBox="1"/>
          <p:nvPr/>
        </p:nvSpPr>
        <p:spPr>
          <a:xfrm>
            <a:off x="4466488" y="2134267"/>
            <a:ext cx="93550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1" dirty="0" err="1">
                <a:solidFill>
                  <a:schemeClr val="bg1"/>
                </a:solidFill>
              </a:rPr>
              <a:t>OmniCampus</a:t>
            </a:r>
            <a:r>
              <a:rPr lang="en-US" sz="3600" b="1" i="1" dirty="0">
                <a:solidFill>
                  <a:schemeClr val="bg1"/>
                </a:solidFill>
              </a:rPr>
              <a:t> – One Platform. Every Resource.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1FF3EB-4B96-2FD4-8D25-16B57967D594}"/>
              </a:ext>
            </a:extLst>
          </p:cNvPr>
          <p:cNvSpPr txBox="1"/>
          <p:nvPr/>
        </p:nvSpPr>
        <p:spPr>
          <a:xfrm>
            <a:off x="2895600" y="3771900"/>
            <a:ext cx="921433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 Live resource availability across campus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 Smart booking for rooms, labs &amp; equipment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 AI-powered scheduling recommendations 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Real-time utilization analytics 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 Personalized dashboards for every stakeholder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6DF704-57AE-0A69-077A-9B118A5BA12C}"/>
              </a:ext>
            </a:extLst>
          </p:cNvPr>
          <p:cNvSpPr txBox="1"/>
          <p:nvPr/>
        </p:nvSpPr>
        <p:spPr>
          <a:xfrm>
            <a:off x="9073662" y="9410700"/>
            <a:ext cx="92143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- From manual management to intelligent campus operations.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2E4F1B3-2294-831E-68C9-E3E9721F9E7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3239" y="3685546"/>
            <a:ext cx="647716" cy="64771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EB93997-85E5-E890-6296-7EB1199A60B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4418" y="4448494"/>
            <a:ext cx="808736" cy="80873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E090E9C-C59E-D537-261F-19AAB64428B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9242" y="5228245"/>
            <a:ext cx="936886" cy="93688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CACA399-F3D4-F8D9-6C8D-A13F0F00E2A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6070" y="6170406"/>
            <a:ext cx="571516" cy="57151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153B30E-B8E1-04BF-72A8-5931F2F6896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9585" y="7048207"/>
            <a:ext cx="571516" cy="5715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-63503" y="-63503"/>
            <a:ext cx="18414997" cy="10413997"/>
          </a:xfrm>
          <a:custGeom>
            <a:avLst/>
            <a:gdLst/>
            <a:ahLst/>
            <a:cxnLst/>
            <a:rect l="l" t="t" r="r" b="b"/>
            <a:pathLst>
              <a:path w="18414997" h="10413997">
                <a:moveTo>
                  <a:pt x="0" y="0"/>
                </a:moveTo>
                <a:lnTo>
                  <a:pt x="18414997" y="0"/>
                </a:lnTo>
                <a:lnTo>
                  <a:pt x="18414997" y="10413997"/>
                </a:lnTo>
                <a:lnTo>
                  <a:pt x="0" y="104139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2309917" y="881567"/>
            <a:ext cx="7086124" cy="959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38"/>
              </a:lnSpc>
            </a:pPr>
            <a:r>
              <a:rPr lang="en-US" sz="5599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Technical Approach</a:t>
            </a:r>
          </a:p>
        </p:txBody>
      </p:sp>
      <p:sp>
        <p:nvSpPr>
          <p:cNvPr id="7" name="Freeform 7"/>
          <p:cNvSpPr/>
          <p:nvPr/>
        </p:nvSpPr>
        <p:spPr>
          <a:xfrm>
            <a:off x="14810965" y="180975"/>
            <a:ext cx="2515010" cy="2515010"/>
          </a:xfrm>
          <a:custGeom>
            <a:avLst/>
            <a:gdLst/>
            <a:ahLst/>
            <a:cxnLst/>
            <a:rect l="l" t="t" r="r" b="b"/>
            <a:pathLst>
              <a:path w="2515010" h="2515010">
                <a:moveTo>
                  <a:pt x="0" y="0"/>
                </a:moveTo>
                <a:lnTo>
                  <a:pt x="2515010" y="0"/>
                </a:lnTo>
                <a:lnTo>
                  <a:pt x="2515010" y="2515010"/>
                </a:lnTo>
                <a:lnTo>
                  <a:pt x="0" y="25150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B923B40-2699-3E9B-91AF-179B501845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2045" y="6858031"/>
            <a:ext cx="991793" cy="9917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51C3951-1EB6-6489-44F9-6D37827506B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199" y="8234867"/>
            <a:ext cx="991793" cy="99179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5CA5B03-6AA3-A150-A28A-F1F29D32F9C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4499" y="5412135"/>
            <a:ext cx="991793" cy="99179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7D81D84-33FB-D2B4-E66F-282162E8BCE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8857" y="3886393"/>
            <a:ext cx="991793" cy="99179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D4A7ED5-4FF7-41DF-AAC0-DAF1AD0D8A8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8379" y="5412135"/>
            <a:ext cx="991793" cy="99179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257843F-AE93-7A71-7A0C-DC1D95717349}"/>
              </a:ext>
            </a:extLst>
          </p:cNvPr>
          <p:cNvSpPr txBox="1"/>
          <p:nvPr/>
        </p:nvSpPr>
        <p:spPr>
          <a:xfrm>
            <a:off x="11722316" y="3250443"/>
            <a:ext cx="4483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IOT or Manual Updates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C6CDDE-F684-FEB5-0E13-8C0FD818D6DD}"/>
              </a:ext>
            </a:extLst>
          </p:cNvPr>
          <p:cNvSpPr txBox="1"/>
          <p:nvPr/>
        </p:nvSpPr>
        <p:spPr>
          <a:xfrm>
            <a:off x="12764194" y="6794528"/>
            <a:ext cx="4483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Students,+</a:t>
            </a:r>
            <a:r>
              <a:rPr lang="en-US" sz="2800" dirty="0" err="1">
                <a:solidFill>
                  <a:schemeClr val="bg1"/>
                </a:solidFill>
              </a:rPr>
              <a:t>Faculty+Admin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B3B053-FD0B-AAB9-5BF9-016B09F86EE2}"/>
              </a:ext>
            </a:extLst>
          </p:cNvPr>
          <p:cNvSpPr txBox="1"/>
          <p:nvPr/>
        </p:nvSpPr>
        <p:spPr>
          <a:xfrm>
            <a:off x="6096000" y="7648144"/>
            <a:ext cx="4483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Analytics Dashboard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1146738-3ECE-D2B0-563A-3379888A88FF}"/>
              </a:ext>
            </a:extLst>
          </p:cNvPr>
          <p:cNvSpPr txBox="1"/>
          <p:nvPr/>
        </p:nvSpPr>
        <p:spPr>
          <a:xfrm>
            <a:off x="1787309" y="6271308"/>
            <a:ext cx="4483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Booking and AI Engine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BAD1FC5-3627-8862-F7D5-B9D463E91BC1}"/>
              </a:ext>
            </a:extLst>
          </p:cNvPr>
          <p:cNvSpPr txBox="1"/>
          <p:nvPr/>
        </p:nvSpPr>
        <p:spPr>
          <a:xfrm>
            <a:off x="7991646" y="4776185"/>
            <a:ext cx="4483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Central Backend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2E6729-F3D5-85D3-3432-C83EB75F716B}"/>
              </a:ext>
            </a:extLst>
          </p:cNvPr>
          <p:cNvSpPr txBox="1"/>
          <p:nvPr/>
        </p:nvSpPr>
        <p:spPr>
          <a:xfrm>
            <a:off x="3212941" y="2801810"/>
            <a:ext cx="4483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Campus Resources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13DC9A1-8C45-AE94-6313-8184B3F1958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56349" y="7553480"/>
            <a:ext cx="991793" cy="99179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5D41617-5F20-4821-E57B-3F2E98C7108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5549" y="8255457"/>
            <a:ext cx="876316" cy="87631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914F5EB-9958-B2DB-91BE-BB562D4E37E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0" y="3365460"/>
            <a:ext cx="1136392" cy="1136392"/>
          </a:xfrm>
          <a:prstGeom prst="rect">
            <a:avLst/>
          </a:prstGeom>
        </p:spPr>
      </p:pic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D9785A5-EC66-80DF-E0A0-B6D6F3F0B41E}"/>
              </a:ext>
            </a:extLst>
          </p:cNvPr>
          <p:cNvCxnSpPr>
            <a:cxnSpLocks/>
          </p:cNvCxnSpPr>
          <p:nvPr/>
        </p:nvCxnSpPr>
        <p:spPr>
          <a:xfrm>
            <a:off x="6629400" y="3619500"/>
            <a:ext cx="4724400" cy="31415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49BE7DB-0851-CCFB-78C3-056DEEA0668C}"/>
              </a:ext>
            </a:extLst>
          </p:cNvPr>
          <p:cNvCxnSpPr>
            <a:cxnSpLocks/>
          </p:cNvCxnSpPr>
          <p:nvPr/>
        </p:nvCxnSpPr>
        <p:spPr>
          <a:xfrm flipH="1">
            <a:off x="5251192" y="5981473"/>
            <a:ext cx="2445007" cy="87655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83EA8DC-9BC4-A6D2-4CD0-1CD198142F8B}"/>
              </a:ext>
            </a:extLst>
          </p:cNvPr>
          <p:cNvCxnSpPr>
            <a:cxnSpLocks/>
          </p:cNvCxnSpPr>
          <p:nvPr/>
        </p:nvCxnSpPr>
        <p:spPr>
          <a:xfrm flipH="1">
            <a:off x="10726036" y="4501852"/>
            <a:ext cx="1748868" cy="79755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5759064-51DF-626F-3E20-99BC48621259}"/>
              </a:ext>
            </a:extLst>
          </p:cNvPr>
          <p:cNvCxnSpPr>
            <a:cxnSpLocks/>
          </p:cNvCxnSpPr>
          <p:nvPr/>
        </p:nvCxnSpPr>
        <p:spPr>
          <a:xfrm>
            <a:off x="4347733" y="7975628"/>
            <a:ext cx="1748267" cy="58835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1543CBC-E782-94EC-ED44-11B38377433B}"/>
              </a:ext>
            </a:extLst>
          </p:cNvPr>
          <p:cNvCxnSpPr>
            <a:cxnSpLocks/>
          </p:cNvCxnSpPr>
          <p:nvPr/>
        </p:nvCxnSpPr>
        <p:spPr>
          <a:xfrm flipV="1">
            <a:off x="9576564" y="7975628"/>
            <a:ext cx="3703658" cy="51623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7395448" y="3433448"/>
            <a:ext cx="3427971" cy="2399576"/>
            <a:chOff x="0" y="0"/>
            <a:chExt cx="4570628" cy="319943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570603" cy="3199384"/>
            </a:xfrm>
            <a:custGeom>
              <a:avLst/>
              <a:gdLst/>
              <a:ahLst/>
              <a:cxnLst/>
              <a:rect l="l" t="t" r="r" b="b"/>
              <a:pathLst>
                <a:path w="4570603" h="3199384">
                  <a:moveTo>
                    <a:pt x="0" y="0"/>
                  </a:moveTo>
                  <a:lnTo>
                    <a:pt x="4570603" y="0"/>
                  </a:lnTo>
                  <a:lnTo>
                    <a:pt x="4570603" y="3199384"/>
                  </a:lnTo>
                  <a:lnTo>
                    <a:pt x="0" y="3199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Freeform 7"/>
          <p:cNvSpPr/>
          <p:nvPr/>
        </p:nvSpPr>
        <p:spPr>
          <a:xfrm>
            <a:off x="2232165" y="2650170"/>
            <a:ext cx="3500838" cy="514350"/>
          </a:xfrm>
          <a:custGeom>
            <a:avLst/>
            <a:gdLst/>
            <a:ahLst/>
            <a:cxnLst/>
            <a:rect l="l" t="t" r="r" b="b"/>
            <a:pathLst>
              <a:path w="3500838" h="514350">
                <a:moveTo>
                  <a:pt x="0" y="0"/>
                </a:moveTo>
                <a:lnTo>
                  <a:pt x="3500837" y="0"/>
                </a:lnTo>
                <a:lnTo>
                  <a:pt x="3500837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2232165" y="4321607"/>
            <a:ext cx="3500838" cy="514350"/>
          </a:xfrm>
          <a:custGeom>
            <a:avLst/>
            <a:gdLst/>
            <a:ahLst/>
            <a:cxnLst/>
            <a:rect l="l" t="t" r="r" b="b"/>
            <a:pathLst>
              <a:path w="3500838" h="514350">
                <a:moveTo>
                  <a:pt x="0" y="0"/>
                </a:moveTo>
                <a:lnTo>
                  <a:pt x="3500837" y="0"/>
                </a:lnTo>
                <a:lnTo>
                  <a:pt x="3500837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2232165" y="6025687"/>
            <a:ext cx="3500838" cy="514350"/>
          </a:xfrm>
          <a:custGeom>
            <a:avLst/>
            <a:gdLst/>
            <a:ahLst/>
            <a:cxnLst/>
            <a:rect l="l" t="t" r="r" b="b"/>
            <a:pathLst>
              <a:path w="3500838" h="514350">
                <a:moveTo>
                  <a:pt x="0" y="0"/>
                </a:moveTo>
                <a:lnTo>
                  <a:pt x="3500837" y="0"/>
                </a:lnTo>
                <a:lnTo>
                  <a:pt x="3500837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2261473" y="923925"/>
            <a:ext cx="4104551" cy="953138"/>
          </a:xfrm>
          <a:custGeom>
            <a:avLst/>
            <a:gdLst/>
            <a:ahLst/>
            <a:cxnLst/>
            <a:rect l="l" t="t" r="r" b="b"/>
            <a:pathLst>
              <a:path w="4104551" h="953138">
                <a:moveTo>
                  <a:pt x="0" y="0"/>
                </a:moveTo>
                <a:lnTo>
                  <a:pt x="4104551" y="0"/>
                </a:lnTo>
                <a:lnTo>
                  <a:pt x="4104551" y="953138"/>
                </a:lnTo>
                <a:lnTo>
                  <a:pt x="0" y="9531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5921493" y="2545061"/>
            <a:ext cx="819950" cy="819950"/>
          </a:xfrm>
          <a:custGeom>
            <a:avLst/>
            <a:gdLst/>
            <a:ahLst/>
            <a:cxnLst/>
            <a:rect l="l" t="t" r="r" b="b"/>
            <a:pathLst>
              <a:path w="819950" h="819950">
                <a:moveTo>
                  <a:pt x="0" y="0"/>
                </a:moveTo>
                <a:lnTo>
                  <a:pt x="819950" y="0"/>
                </a:lnTo>
                <a:lnTo>
                  <a:pt x="819950" y="819950"/>
                </a:lnTo>
                <a:lnTo>
                  <a:pt x="0" y="8199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5921493" y="4223261"/>
            <a:ext cx="819950" cy="819950"/>
          </a:xfrm>
          <a:custGeom>
            <a:avLst/>
            <a:gdLst/>
            <a:ahLst/>
            <a:cxnLst/>
            <a:rect l="l" t="t" r="r" b="b"/>
            <a:pathLst>
              <a:path w="819950" h="819950">
                <a:moveTo>
                  <a:pt x="0" y="0"/>
                </a:moveTo>
                <a:lnTo>
                  <a:pt x="819950" y="0"/>
                </a:lnTo>
                <a:lnTo>
                  <a:pt x="819950" y="819950"/>
                </a:lnTo>
                <a:lnTo>
                  <a:pt x="0" y="8199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5921493" y="5901471"/>
            <a:ext cx="819950" cy="819950"/>
          </a:xfrm>
          <a:custGeom>
            <a:avLst/>
            <a:gdLst/>
            <a:ahLst/>
            <a:cxnLst/>
            <a:rect l="l" t="t" r="r" b="b"/>
            <a:pathLst>
              <a:path w="819950" h="819950">
                <a:moveTo>
                  <a:pt x="0" y="0"/>
                </a:moveTo>
                <a:lnTo>
                  <a:pt x="819950" y="0"/>
                </a:lnTo>
                <a:lnTo>
                  <a:pt x="819950" y="819950"/>
                </a:lnTo>
                <a:lnTo>
                  <a:pt x="0" y="8199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7395448" y="3433448"/>
            <a:ext cx="3427971" cy="2399576"/>
          </a:xfrm>
          <a:custGeom>
            <a:avLst/>
            <a:gdLst/>
            <a:ahLst/>
            <a:cxnLst/>
            <a:rect l="l" t="t" r="r" b="b"/>
            <a:pathLst>
              <a:path w="3427971" h="2399576">
                <a:moveTo>
                  <a:pt x="0" y="0"/>
                </a:moveTo>
                <a:lnTo>
                  <a:pt x="3427972" y="0"/>
                </a:lnTo>
                <a:lnTo>
                  <a:pt x="3427972" y="2399576"/>
                </a:lnTo>
                <a:lnTo>
                  <a:pt x="0" y="23995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1477435" y="2545061"/>
            <a:ext cx="819950" cy="819950"/>
          </a:xfrm>
          <a:custGeom>
            <a:avLst/>
            <a:gdLst/>
            <a:ahLst/>
            <a:cxnLst/>
            <a:rect l="l" t="t" r="r" b="b"/>
            <a:pathLst>
              <a:path w="819950" h="819950">
                <a:moveTo>
                  <a:pt x="0" y="0"/>
                </a:moveTo>
                <a:lnTo>
                  <a:pt x="819950" y="0"/>
                </a:lnTo>
                <a:lnTo>
                  <a:pt x="819950" y="819950"/>
                </a:lnTo>
                <a:lnTo>
                  <a:pt x="0" y="8199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11477435" y="4223261"/>
            <a:ext cx="819950" cy="819950"/>
          </a:xfrm>
          <a:custGeom>
            <a:avLst/>
            <a:gdLst/>
            <a:ahLst/>
            <a:cxnLst/>
            <a:rect l="l" t="t" r="r" b="b"/>
            <a:pathLst>
              <a:path w="819950" h="819950">
                <a:moveTo>
                  <a:pt x="0" y="0"/>
                </a:moveTo>
                <a:lnTo>
                  <a:pt x="819950" y="0"/>
                </a:lnTo>
                <a:lnTo>
                  <a:pt x="819950" y="819950"/>
                </a:lnTo>
                <a:lnTo>
                  <a:pt x="0" y="8199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1477435" y="5901471"/>
            <a:ext cx="819950" cy="819950"/>
          </a:xfrm>
          <a:custGeom>
            <a:avLst/>
            <a:gdLst/>
            <a:ahLst/>
            <a:cxnLst/>
            <a:rect l="l" t="t" r="r" b="b"/>
            <a:pathLst>
              <a:path w="819950" h="819950">
                <a:moveTo>
                  <a:pt x="0" y="0"/>
                </a:moveTo>
                <a:lnTo>
                  <a:pt x="819950" y="0"/>
                </a:lnTo>
                <a:lnTo>
                  <a:pt x="819950" y="819950"/>
                </a:lnTo>
                <a:lnTo>
                  <a:pt x="0" y="8199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2486789" y="2650170"/>
            <a:ext cx="3500838" cy="514350"/>
          </a:xfrm>
          <a:custGeom>
            <a:avLst/>
            <a:gdLst/>
            <a:ahLst/>
            <a:cxnLst/>
            <a:rect l="l" t="t" r="r" b="b"/>
            <a:pathLst>
              <a:path w="3500838" h="514350">
                <a:moveTo>
                  <a:pt x="0" y="0"/>
                </a:moveTo>
                <a:lnTo>
                  <a:pt x="3500838" y="0"/>
                </a:lnTo>
                <a:lnTo>
                  <a:pt x="3500838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12486789" y="4347486"/>
            <a:ext cx="3500838" cy="514350"/>
          </a:xfrm>
          <a:custGeom>
            <a:avLst/>
            <a:gdLst/>
            <a:ahLst/>
            <a:cxnLst/>
            <a:rect l="l" t="t" r="r" b="b"/>
            <a:pathLst>
              <a:path w="3500838" h="514350">
                <a:moveTo>
                  <a:pt x="0" y="0"/>
                </a:moveTo>
                <a:lnTo>
                  <a:pt x="3500838" y="0"/>
                </a:lnTo>
                <a:lnTo>
                  <a:pt x="3500838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2486789" y="6025687"/>
            <a:ext cx="3500838" cy="514350"/>
          </a:xfrm>
          <a:custGeom>
            <a:avLst/>
            <a:gdLst/>
            <a:ahLst/>
            <a:cxnLst/>
            <a:rect l="l" t="t" r="r" b="b"/>
            <a:pathLst>
              <a:path w="3500838" h="514350">
                <a:moveTo>
                  <a:pt x="0" y="0"/>
                </a:moveTo>
                <a:lnTo>
                  <a:pt x="3500838" y="0"/>
                </a:lnTo>
                <a:lnTo>
                  <a:pt x="3500838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2391442" y="881567"/>
            <a:ext cx="3918042" cy="959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38"/>
              </a:lnSpc>
            </a:pPr>
            <a:r>
              <a:rPr lang="en-US" sz="5599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Tech Stack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221559" y="2755183"/>
            <a:ext cx="224018" cy="368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6"/>
              </a:lnSpc>
            </a:pPr>
            <a:r>
              <a:rPr lang="en-US" sz="207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221559" y="4433392"/>
            <a:ext cx="224018" cy="368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6"/>
              </a:lnSpc>
            </a:pPr>
            <a:r>
              <a:rPr lang="en-US" sz="207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221559" y="6111593"/>
            <a:ext cx="224018" cy="368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6"/>
              </a:lnSpc>
            </a:pPr>
            <a:r>
              <a:rPr lang="en-US" sz="207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777501" y="2755183"/>
            <a:ext cx="224018" cy="368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6"/>
              </a:lnSpc>
            </a:pPr>
            <a:r>
              <a:rPr lang="en-US" sz="207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777501" y="4433392"/>
            <a:ext cx="224018" cy="368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6"/>
              </a:lnSpc>
            </a:pPr>
            <a:r>
              <a:rPr lang="en-US" sz="207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777501" y="6111593"/>
            <a:ext cx="224018" cy="368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6"/>
              </a:lnSpc>
            </a:pPr>
            <a:r>
              <a:rPr lang="en-US" sz="207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633443" y="2621890"/>
            <a:ext cx="2954293" cy="510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n-US" sz="3200" dirty="0">
                <a:solidFill>
                  <a:schemeClr val="bg1"/>
                </a:solidFill>
              </a:rPr>
              <a:t>Frontend</a:t>
            </a:r>
            <a:endParaRPr lang="en-US" sz="3000" dirty="0">
              <a:solidFill>
                <a:schemeClr val="bg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3645303" y="3261970"/>
            <a:ext cx="1732189" cy="10487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n-US" sz="2800" i="1" dirty="0">
                <a:solidFill>
                  <a:schemeClr val="bg1"/>
                </a:solidFill>
              </a:rPr>
              <a:t>React / Flutter</a:t>
            </a:r>
            <a:endParaRPr lang="en-US" sz="2800" i="1" dirty="0">
              <a:solidFill>
                <a:schemeClr val="bg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2633443" y="4293327"/>
            <a:ext cx="2954293" cy="510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n-US" sz="3200" dirty="0">
                <a:solidFill>
                  <a:schemeClr val="bg1"/>
                </a:solidFill>
              </a:rPr>
              <a:t>Backend</a:t>
            </a:r>
            <a:endParaRPr lang="en-US" sz="3000" dirty="0">
              <a:solidFill>
                <a:schemeClr val="bg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3645303" y="4933407"/>
            <a:ext cx="1484338" cy="10487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n-US" sz="2800" i="1" dirty="0" err="1">
                <a:solidFill>
                  <a:schemeClr val="bg1"/>
                </a:solidFill>
              </a:rPr>
              <a:t>FastAPI</a:t>
            </a:r>
            <a:r>
              <a:rPr lang="en-US" sz="2800" i="1" dirty="0">
                <a:solidFill>
                  <a:schemeClr val="bg1"/>
                </a:solidFill>
              </a:rPr>
              <a:t> / Node.js</a:t>
            </a:r>
            <a:endParaRPr lang="en-US" sz="2800" i="1" dirty="0">
              <a:solidFill>
                <a:schemeClr val="bg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2633443" y="5997407"/>
            <a:ext cx="2954293" cy="510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n-US" sz="3200" dirty="0">
                <a:solidFill>
                  <a:schemeClr val="bg1"/>
                </a:solidFill>
              </a:rPr>
              <a:t>Database</a:t>
            </a:r>
            <a:endParaRPr lang="en-US" sz="3000" dirty="0">
              <a:solidFill>
                <a:schemeClr val="bg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3645303" y="6637487"/>
            <a:ext cx="1895752" cy="5101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n-US" sz="2800" i="1" dirty="0">
                <a:solidFill>
                  <a:schemeClr val="bg1"/>
                </a:solidFill>
              </a:rPr>
              <a:t>PostgreSQL</a:t>
            </a:r>
            <a:endParaRPr lang="en-US" sz="2800" i="1" dirty="0">
              <a:solidFill>
                <a:schemeClr val="bg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2841386" y="2621890"/>
            <a:ext cx="2954293" cy="510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n-US" sz="3200" dirty="0">
                <a:solidFill>
                  <a:schemeClr val="bg1"/>
                </a:solidFill>
              </a:rPr>
              <a:t>Real-Time</a:t>
            </a:r>
            <a:endParaRPr lang="en-US" sz="3000" dirty="0">
              <a:solidFill>
                <a:schemeClr val="bg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3899918" y="3261970"/>
            <a:ext cx="2277113" cy="10487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n-US" sz="2800" i="1" dirty="0" err="1">
                <a:solidFill>
                  <a:schemeClr val="bg1"/>
                </a:solidFill>
              </a:rPr>
              <a:t>WebSockets</a:t>
            </a:r>
            <a:r>
              <a:rPr lang="en-US" sz="2800" i="1" dirty="0">
                <a:solidFill>
                  <a:schemeClr val="bg1"/>
                </a:solidFill>
              </a:rPr>
              <a:t> / Firebase</a:t>
            </a:r>
            <a:endParaRPr lang="en-US" sz="2800" i="1" dirty="0">
              <a:solidFill>
                <a:schemeClr val="bg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2841386" y="4319207"/>
            <a:ext cx="2954293" cy="510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n-US" sz="3200" dirty="0">
                <a:solidFill>
                  <a:schemeClr val="bg1"/>
                </a:solidFill>
              </a:rPr>
              <a:t>AI</a:t>
            </a:r>
            <a:endParaRPr lang="en-US" sz="3000" dirty="0">
              <a:solidFill>
                <a:schemeClr val="bg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13923721" y="4689430"/>
            <a:ext cx="3743916" cy="10487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n-US" sz="2800" i="1" dirty="0">
                <a:solidFill>
                  <a:schemeClr val="bg1"/>
                </a:solidFill>
              </a:rPr>
              <a:t>Python + OpenAI / Bedrock</a:t>
            </a:r>
            <a:endParaRPr lang="en-US" sz="2800" i="1" dirty="0">
              <a:solidFill>
                <a:schemeClr val="bg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2841386" y="5997407"/>
            <a:ext cx="2954293" cy="510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n-US" sz="3200" dirty="0">
                <a:solidFill>
                  <a:schemeClr val="bg1"/>
                </a:solidFill>
              </a:rPr>
              <a:t>Dashboard</a:t>
            </a:r>
            <a:endParaRPr lang="en-US" sz="3000" dirty="0">
              <a:solidFill>
                <a:schemeClr val="bg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13899918" y="6637487"/>
            <a:ext cx="1534116" cy="5101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n-US" sz="2800" i="1" dirty="0">
                <a:solidFill>
                  <a:schemeClr val="bg1"/>
                </a:solidFill>
              </a:rPr>
              <a:t>Chart.js</a:t>
            </a:r>
            <a:endParaRPr lang="en-US" sz="2800" i="1" dirty="0">
              <a:solidFill>
                <a:schemeClr val="bg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" name="Freeform 40"/>
          <p:cNvSpPr/>
          <p:nvPr/>
        </p:nvSpPr>
        <p:spPr>
          <a:xfrm>
            <a:off x="14810965" y="180975"/>
            <a:ext cx="2515010" cy="2515010"/>
          </a:xfrm>
          <a:custGeom>
            <a:avLst/>
            <a:gdLst/>
            <a:ahLst/>
            <a:cxnLst/>
            <a:rect l="l" t="t" r="r" b="b"/>
            <a:pathLst>
              <a:path w="2515010" h="2515010">
                <a:moveTo>
                  <a:pt x="0" y="0"/>
                </a:moveTo>
                <a:lnTo>
                  <a:pt x="2515010" y="0"/>
                </a:lnTo>
                <a:lnTo>
                  <a:pt x="2515010" y="2515010"/>
                </a:lnTo>
                <a:lnTo>
                  <a:pt x="0" y="251501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1" name="Freeform 13">
            <a:extLst>
              <a:ext uri="{FF2B5EF4-FFF2-40B4-BE49-F238E27FC236}">
                <a16:creationId xmlns:a16="http://schemas.microsoft.com/office/drawing/2014/main" id="{9439E17E-CA70-3893-CD54-34336E7C92BC}"/>
              </a:ext>
            </a:extLst>
          </p:cNvPr>
          <p:cNvSpPr/>
          <p:nvPr/>
        </p:nvSpPr>
        <p:spPr>
          <a:xfrm>
            <a:off x="5921493" y="7276795"/>
            <a:ext cx="819950" cy="819950"/>
          </a:xfrm>
          <a:custGeom>
            <a:avLst/>
            <a:gdLst/>
            <a:ahLst/>
            <a:cxnLst/>
            <a:rect l="l" t="t" r="r" b="b"/>
            <a:pathLst>
              <a:path w="819950" h="819950">
                <a:moveTo>
                  <a:pt x="0" y="0"/>
                </a:moveTo>
                <a:lnTo>
                  <a:pt x="819950" y="0"/>
                </a:lnTo>
                <a:lnTo>
                  <a:pt x="819950" y="819950"/>
                </a:lnTo>
                <a:lnTo>
                  <a:pt x="0" y="8199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2" name="TextBox 24">
            <a:extLst>
              <a:ext uri="{FF2B5EF4-FFF2-40B4-BE49-F238E27FC236}">
                <a16:creationId xmlns:a16="http://schemas.microsoft.com/office/drawing/2014/main" id="{C055FF40-3F74-1A51-9006-AA6DC11749B0}"/>
              </a:ext>
            </a:extLst>
          </p:cNvPr>
          <p:cNvSpPr txBox="1"/>
          <p:nvPr/>
        </p:nvSpPr>
        <p:spPr>
          <a:xfrm>
            <a:off x="6221559" y="7574035"/>
            <a:ext cx="224018" cy="339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6"/>
              </a:lnSpc>
            </a:pPr>
            <a:r>
              <a:rPr lang="en-US" sz="207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7.</a:t>
            </a:r>
          </a:p>
        </p:txBody>
      </p:sp>
      <p:sp>
        <p:nvSpPr>
          <p:cNvPr id="43" name="TextBox 32">
            <a:extLst>
              <a:ext uri="{FF2B5EF4-FFF2-40B4-BE49-F238E27FC236}">
                <a16:creationId xmlns:a16="http://schemas.microsoft.com/office/drawing/2014/main" id="{1B943A0A-9D14-44A8-EE45-DA93DC623068}"/>
              </a:ext>
            </a:extLst>
          </p:cNvPr>
          <p:cNvSpPr txBox="1"/>
          <p:nvPr/>
        </p:nvSpPr>
        <p:spPr>
          <a:xfrm>
            <a:off x="2633443" y="7459849"/>
            <a:ext cx="2954293" cy="510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n-US" sz="3200" dirty="0">
                <a:solidFill>
                  <a:schemeClr val="bg1"/>
                </a:solidFill>
              </a:rPr>
              <a:t>Cloud</a:t>
            </a:r>
            <a:endParaRPr lang="en-US" sz="3000" dirty="0">
              <a:solidFill>
                <a:schemeClr val="bg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" name="TextBox 33">
            <a:extLst>
              <a:ext uri="{FF2B5EF4-FFF2-40B4-BE49-F238E27FC236}">
                <a16:creationId xmlns:a16="http://schemas.microsoft.com/office/drawing/2014/main" id="{E51F62C8-1595-5EE0-BEAA-61BB0F285142}"/>
              </a:ext>
            </a:extLst>
          </p:cNvPr>
          <p:cNvSpPr txBox="1"/>
          <p:nvPr/>
        </p:nvSpPr>
        <p:spPr>
          <a:xfrm>
            <a:off x="3645303" y="8099929"/>
            <a:ext cx="1895752" cy="5101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n-US" sz="2800" i="1" dirty="0">
                <a:solidFill>
                  <a:schemeClr val="bg1"/>
                </a:solidFill>
              </a:rPr>
              <a:t>AWS</a:t>
            </a:r>
            <a:endParaRPr lang="en-US" sz="2800" i="1" dirty="0">
              <a:solidFill>
                <a:schemeClr val="bg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" name="Freeform 17">
            <a:extLst>
              <a:ext uri="{FF2B5EF4-FFF2-40B4-BE49-F238E27FC236}">
                <a16:creationId xmlns:a16="http://schemas.microsoft.com/office/drawing/2014/main" id="{8277D3AC-06E9-5EFA-A074-023B2310C1CF}"/>
              </a:ext>
            </a:extLst>
          </p:cNvPr>
          <p:cNvSpPr/>
          <p:nvPr/>
        </p:nvSpPr>
        <p:spPr>
          <a:xfrm>
            <a:off x="11477435" y="7277514"/>
            <a:ext cx="819950" cy="819950"/>
          </a:xfrm>
          <a:custGeom>
            <a:avLst/>
            <a:gdLst/>
            <a:ahLst/>
            <a:cxnLst/>
            <a:rect l="l" t="t" r="r" b="b"/>
            <a:pathLst>
              <a:path w="819950" h="819950">
                <a:moveTo>
                  <a:pt x="0" y="0"/>
                </a:moveTo>
                <a:lnTo>
                  <a:pt x="819950" y="0"/>
                </a:lnTo>
                <a:lnTo>
                  <a:pt x="819950" y="819950"/>
                </a:lnTo>
                <a:lnTo>
                  <a:pt x="0" y="8199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6" name="TextBox 27">
            <a:extLst>
              <a:ext uri="{FF2B5EF4-FFF2-40B4-BE49-F238E27FC236}">
                <a16:creationId xmlns:a16="http://schemas.microsoft.com/office/drawing/2014/main" id="{00DE174F-32DD-5069-F7F2-B0426BDF2654}"/>
              </a:ext>
            </a:extLst>
          </p:cNvPr>
          <p:cNvSpPr txBox="1"/>
          <p:nvPr/>
        </p:nvSpPr>
        <p:spPr>
          <a:xfrm>
            <a:off x="11777501" y="7574754"/>
            <a:ext cx="224018" cy="339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6"/>
              </a:lnSpc>
            </a:pPr>
            <a:r>
              <a:rPr lang="en-US" sz="207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8.</a:t>
            </a:r>
          </a:p>
        </p:txBody>
      </p:sp>
      <p:sp>
        <p:nvSpPr>
          <p:cNvPr id="47" name="TextBox 38">
            <a:extLst>
              <a:ext uri="{FF2B5EF4-FFF2-40B4-BE49-F238E27FC236}">
                <a16:creationId xmlns:a16="http://schemas.microsoft.com/office/drawing/2014/main" id="{D3BA6784-767A-54B2-936B-E2EA2538EA41}"/>
              </a:ext>
            </a:extLst>
          </p:cNvPr>
          <p:cNvSpPr txBox="1"/>
          <p:nvPr/>
        </p:nvSpPr>
        <p:spPr>
          <a:xfrm>
            <a:off x="12841386" y="7460568"/>
            <a:ext cx="2954293" cy="510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n-US" sz="3200" dirty="0">
                <a:solidFill>
                  <a:schemeClr val="bg1"/>
                </a:solidFill>
              </a:rPr>
              <a:t>Authentication</a:t>
            </a:r>
            <a:endParaRPr lang="en-US" sz="3000" dirty="0">
              <a:solidFill>
                <a:schemeClr val="bg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" name="TextBox 39">
            <a:extLst>
              <a:ext uri="{FF2B5EF4-FFF2-40B4-BE49-F238E27FC236}">
                <a16:creationId xmlns:a16="http://schemas.microsoft.com/office/drawing/2014/main" id="{F28C82A6-BA86-B2B1-7747-CA4638295625}"/>
              </a:ext>
            </a:extLst>
          </p:cNvPr>
          <p:cNvSpPr txBox="1"/>
          <p:nvPr/>
        </p:nvSpPr>
        <p:spPr>
          <a:xfrm>
            <a:off x="13899918" y="8100648"/>
            <a:ext cx="1534116" cy="5101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n-US" sz="2800" i="1" dirty="0">
                <a:solidFill>
                  <a:schemeClr val="bg1"/>
                </a:solidFill>
              </a:rPr>
              <a:t>JWT</a:t>
            </a:r>
            <a:endParaRPr lang="en-US" sz="2800" i="1" dirty="0">
              <a:solidFill>
                <a:schemeClr val="bg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-63503" y="-63503"/>
            <a:ext cx="18414997" cy="10413997"/>
          </a:xfrm>
          <a:custGeom>
            <a:avLst/>
            <a:gdLst/>
            <a:ahLst/>
            <a:cxnLst/>
            <a:rect l="l" t="t" r="r" b="b"/>
            <a:pathLst>
              <a:path w="18414997" h="10413997">
                <a:moveTo>
                  <a:pt x="0" y="0"/>
                </a:moveTo>
                <a:lnTo>
                  <a:pt x="18414997" y="0"/>
                </a:lnTo>
                <a:lnTo>
                  <a:pt x="18414997" y="10413997"/>
                </a:lnTo>
                <a:lnTo>
                  <a:pt x="0" y="104139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2183682" y="811597"/>
            <a:ext cx="6765550" cy="959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38"/>
              </a:lnSpc>
            </a:pPr>
            <a:r>
              <a:rPr lang="en-US" sz="5599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Dependencies and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949233" y="811597"/>
            <a:ext cx="4727467" cy="959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38"/>
              </a:lnSpc>
            </a:pPr>
            <a:r>
              <a:rPr lang="en-US" sz="5599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Showstopper</a:t>
            </a:r>
          </a:p>
        </p:txBody>
      </p:sp>
      <p:sp>
        <p:nvSpPr>
          <p:cNvPr id="14" name="Freeform 14"/>
          <p:cNvSpPr/>
          <p:nvPr/>
        </p:nvSpPr>
        <p:spPr>
          <a:xfrm>
            <a:off x="14810965" y="180975"/>
            <a:ext cx="2515010" cy="2515010"/>
          </a:xfrm>
          <a:custGeom>
            <a:avLst/>
            <a:gdLst/>
            <a:ahLst/>
            <a:cxnLst/>
            <a:rect l="l" t="t" r="r" b="b"/>
            <a:pathLst>
              <a:path w="2515010" h="2515010">
                <a:moveTo>
                  <a:pt x="0" y="0"/>
                </a:moveTo>
                <a:lnTo>
                  <a:pt x="2515010" y="0"/>
                </a:lnTo>
                <a:lnTo>
                  <a:pt x="2515010" y="2515010"/>
                </a:lnTo>
                <a:lnTo>
                  <a:pt x="0" y="25150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E1CCE4DA-3DAD-4B85-0116-24C0A96CEE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5630929"/>
              </p:ext>
            </p:extLst>
          </p:nvPr>
        </p:nvGraphicFramePr>
        <p:xfrm>
          <a:off x="3822648" y="3467100"/>
          <a:ext cx="10253168" cy="4328160"/>
        </p:xfrm>
        <a:graphic>
          <a:graphicData uri="http://schemas.openxmlformats.org/drawingml/2006/table">
            <a:tbl>
              <a:tblPr/>
              <a:tblGrid>
                <a:gridCol w="5126584">
                  <a:extLst>
                    <a:ext uri="{9D8B030D-6E8A-4147-A177-3AD203B41FA5}">
                      <a16:colId xmlns:a16="http://schemas.microsoft.com/office/drawing/2014/main" val="1487316363"/>
                    </a:ext>
                  </a:extLst>
                </a:gridCol>
                <a:gridCol w="5126584">
                  <a:extLst>
                    <a:ext uri="{9D8B030D-6E8A-4147-A177-3AD203B41FA5}">
                      <a16:colId xmlns:a16="http://schemas.microsoft.com/office/drawing/2014/main" val="2023574033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i="1" u="sng" dirty="0">
                          <a:solidFill>
                            <a:schemeClr val="bg1"/>
                          </a:solidFill>
                        </a:rPr>
                        <a:t>Challenge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i="1" u="sng" dirty="0">
                          <a:solidFill>
                            <a:schemeClr val="bg1"/>
                          </a:solidFill>
                        </a:rPr>
                        <a:t>Our Approach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1035544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solidFill>
                            <a:schemeClr val="bg1"/>
                          </a:solidFill>
                        </a:rPr>
                        <a:t>Live occupancy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IoT sensors or simulated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9142189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solidFill>
                            <a:schemeClr val="bg1"/>
                          </a:solidFill>
                        </a:rPr>
                        <a:t>User adoption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solidFill>
                            <a:schemeClr val="bg1"/>
                          </a:solidFill>
                        </a:rPr>
                        <a:t>Simple, intuitive interface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7603396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solidFill>
                            <a:schemeClr val="bg1"/>
                          </a:solidFill>
                        </a:rPr>
                        <a:t>Scheduling conflicts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AI-powered recommendations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6382819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solidFill>
                            <a:schemeClr val="bg1"/>
                          </a:solidFill>
                        </a:rPr>
                        <a:t>Data security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solidFill>
                            <a:schemeClr val="bg1"/>
                          </a:solidFill>
                        </a:rPr>
                        <a:t>Role-based authentication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160788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solidFill>
                            <a:schemeClr val="bg1"/>
                          </a:solidFill>
                        </a:rPr>
                        <a:t>Existing campus systems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API-ready architecture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1351410"/>
                  </a:ext>
                </a:extLst>
              </a:tr>
            </a:tbl>
          </a:graphicData>
        </a:graphic>
      </p:graphicFrame>
      <p:pic>
        <p:nvPicPr>
          <p:cNvPr id="17" name="Picture 16">
            <a:extLst>
              <a:ext uri="{FF2B5EF4-FFF2-40B4-BE49-F238E27FC236}">
                <a16:creationId xmlns:a16="http://schemas.microsoft.com/office/drawing/2014/main" id="{C0338AA4-8955-A9C5-4FBA-6B04B71FBC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67454" y="6467058"/>
            <a:ext cx="2247916" cy="22479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-63503" y="-63503"/>
            <a:ext cx="18414997" cy="10413997"/>
          </a:xfrm>
          <a:custGeom>
            <a:avLst/>
            <a:gdLst/>
            <a:ahLst/>
            <a:cxnLst/>
            <a:rect l="l" t="t" r="r" b="b"/>
            <a:pathLst>
              <a:path w="18414997" h="10413997">
                <a:moveTo>
                  <a:pt x="0" y="0"/>
                </a:moveTo>
                <a:lnTo>
                  <a:pt x="18414997" y="0"/>
                </a:lnTo>
                <a:lnTo>
                  <a:pt x="18414997" y="10413997"/>
                </a:lnTo>
                <a:lnTo>
                  <a:pt x="0" y="104139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2421322" y="881567"/>
            <a:ext cx="7375522" cy="959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38"/>
              </a:lnSpc>
            </a:pPr>
            <a:r>
              <a:rPr lang="en-US" sz="5599" b="1" spc="5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Feasibility &amp; Viability</a:t>
            </a:r>
          </a:p>
        </p:txBody>
      </p:sp>
      <p:sp>
        <p:nvSpPr>
          <p:cNvPr id="7" name="Freeform 7"/>
          <p:cNvSpPr/>
          <p:nvPr/>
        </p:nvSpPr>
        <p:spPr>
          <a:xfrm>
            <a:off x="14839540" y="180975"/>
            <a:ext cx="2515010" cy="2515010"/>
          </a:xfrm>
          <a:custGeom>
            <a:avLst/>
            <a:gdLst/>
            <a:ahLst/>
            <a:cxnLst/>
            <a:rect l="l" t="t" r="r" b="b"/>
            <a:pathLst>
              <a:path w="2515010" h="2515010">
                <a:moveTo>
                  <a:pt x="0" y="0"/>
                </a:moveTo>
                <a:lnTo>
                  <a:pt x="2515010" y="0"/>
                </a:lnTo>
                <a:lnTo>
                  <a:pt x="2515010" y="2515010"/>
                </a:lnTo>
                <a:lnTo>
                  <a:pt x="0" y="25150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81CDD1-24BA-081B-1361-8973C742ABE8}"/>
              </a:ext>
            </a:extLst>
          </p:cNvPr>
          <p:cNvSpPr txBox="1"/>
          <p:nvPr/>
        </p:nvSpPr>
        <p:spPr>
          <a:xfrm>
            <a:off x="3048000" y="2171700"/>
            <a:ext cx="11007969" cy="70480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600" b="1" dirty="0">
                <a:solidFill>
                  <a:schemeClr val="bg1"/>
                </a:solidFill>
              </a:rPr>
              <a:t>Built for Today. Ready for Tomorrow.</a:t>
            </a:r>
          </a:p>
          <a:p>
            <a:pPr algn="ctr">
              <a:buNone/>
            </a:pPr>
            <a:endParaRPr lang="en-US" sz="3600" b="1" dirty="0">
              <a:solidFill>
                <a:schemeClr val="bg1"/>
              </a:solidFill>
            </a:endParaRPr>
          </a:p>
          <a:p>
            <a:pPr algn="ctr">
              <a:buNone/>
            </a:pPr>
            <a:r>
              <a:rPr lang="en-US" sz="3200" b="1" dirty="0">
                <a:solidFill>
                  <a:schemeClr val="bg1"/>
                </a:solidFill>
              </a:rPr>
              <a:t>Why It's Feasible</a:t>
            </a:r>
          </a:p>
          <a:p>
            <a:pPr algn="ctr">
              <a:buNone/>
            </a:pPr>
            <a:endParaRPr lang="en-US" sz="3200" b="1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✅ Works with or without IoT devices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✅ Modular architecture for easy expansion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✅ Uses proven cloud technologies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✅ Deployable in phases </a:t>
            </a:r>
          </a:p>
          <a:p>
            <a:pPr algn="ctr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algn="ctr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algn="ctr">
              <a:buNone/>
            </a:pPr>
            <a:r>
              <a:rPr lang="en-US" sz="3200" b="1" dirty="0">
                <a:solidFill>
                  <a:schemeClr val="bg1"/>
                </a:solidFill>
              </a:rPr>
              <a:t>Long-Term Viability</a:t>
            </a:r>
          </a:p>
          <a:p>
            <a:pPr algn="ctr">
              <a:buNone/>
            </a:pPr>
            <a:endParaRPr lang="en-US" sz="3200" b="1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🎯 Reduces operational costs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📈 Improves resource utilization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🌱 Supports sustainable campus initiatives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7A5E9E0-AEEA-F278-165C-4DACC314EBC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8120" y="5143495"/>
            <a:ext cx="4191340" cy="41913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-63503" y="-63503"/>
            <a:ext cx="18414997" cy="10413997"/>
          </a:xfrm>
          <a:custGeom>
            <a:avLst/>
            <a:gdLst/>
            <a:ahLst/>
            <a:cxnLst/>
            <a:rect l="l" t="t" r="r" b="b"/>
            <a:pathLst>
              <a:path w="18414997" h="10413997">
                <a:moveTo>
                  <a:pt x="0" y="0"/>
                </a:moveTo>
                <a:lnTo>
                  <a:pt x="18414997" y="0"/>
                </a:lnTo>
                <a:lnTo>
                  <a:pt x="18414997" y="10413997"/>
                </a:lnTo>
                <a:lnTo>
                  <a:pt x="0" y="104139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2454154" y="881567"/>
            <a:ext cx="6620485" cy="959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38"/>
              </a:lnSpc>
            </a:pPr>
            <a:r>
              <a:rPr lang="en-US" sz="5599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Impacts &amp; Benefits</a:t>
            </a:r>
          </a:p>
        </p:txBody>
      </p:sp>
      <p:sp>
        <p:nvSpPr>
          <p:cNvPr id="7" name="Freeform 7"/>
          <p:cNvSpPr/>
          <p:nvPr/>
        </p:nvSpPr>
        <p:spPr>
          <a:xfrm>
            <a:off x="14810965" y="180975"/>
            <a:ext cx="2515010" cy="2515010"/>
          </a:xfrm>
          <a:custGeom>
            <a:avLst/>
            <a:gdLst/>
            <a:ahLst/>
            <a:cxnLst/>
            <a:rect l="l" t="t" r="r" b="b"/>
            <a:pathLst>
              <a:path w="2515010" h="2515010">
                <a:moveTo>
                  <a:pt x="0" y="0"/>
                </a:moveTo>
                <a:lnTo>
                  <a:pt x="2515010" y="0"/>
                </a:lnTo>
                <a:lnTo>
                  <a:pt x="2515010" y="2515010"/>
                </a:lnTo>
                <a:lnTo>
                  <a:pt x="0" y="25150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6E57B0-B444-CDA2-4402-8ABC2BB8809B}"/>
              </a:ext>
            </a:extLst>
          </p:cNvPr>
          <p:cNvSpPr txBox="1"/>
          <p:nvPr/>
        </p:nvSpPr>
        <p:spPr>
          <a:xfrm>
            <a:off x="2458843" y="2722968"/>
            <a:ext cx="921433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Creating a Smarter Campus</a:t>
            </a:r>
          </a:p>
          <a:p>
            <a:pPr algn="ctr">
              <a:buNone/>
            </a:pPr>
            <a:endParaRPr lang="en-US" sz="2400" b="1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bg1"/>
                </a:solidFill>
              </a:rPr>
              <a:t>For Students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Faster resource access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Less waiting &amp; confusion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bg1"/>
                </a:solidFill>
              </a:rPr>
              <a:t>For Faculty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Simplified scheduling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Better classroom management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bg1"/>
                </a:solidFill>
              </a:rPr>
              <a:t>For Administration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Higher resource utilization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Data-driven decision making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Reduced operational costs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082AE7-385A-4144-69EE-B333D3275B72}"/>
              </a:ext>
            </a:extLst>
          </p:cNvPr>
          <p:cNvSpPr txBox="1"/>
          <p:nvPr/>
        </p:nvSpPr>
        <p:spPr>
          <a:xfrm>
            <a:off x="11307022" y="4531409"/>
            <a:ext cx="565000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bg1"/>
              </a:solidFill>
            </a:endParaRPr>
          </a:p>
          <a:p>
            <a:pPr algn="ctr">
              <a:buNone/>
            </a:pPr>
            <a:r>
              <a:rPr lang="en-US" sz="3200" b="1" dirty="0">
                <a:solidFill>
                  <a:schemeClr val="bg1"/>
                </a:solidFill>
              </a:rPr>
              <a:t>Overall Impact</a:t>
            </a:r>
          </a:p>
          <a:p>
            <a:pPr>
              <a:buNone/>
            </a:pPr>
            <a:r>
              <a:rPr lang="en-US" sz="3200" dirty="0">
                <a:solidFill>
                  <a:schemeClr val="bg1"/>
                </a:solidFill>
              </a:rPr>
              <a:t>✔ Better Experience</a:t>
            </a:r>
          </a:p>
          <a:p>
            <a:pPr>
              <a:buNone/>
            </a:pPr>
            <a:r>
              <a:rPr lang="en-US" sz="3200" dirty="0">
                <a:solidFill>
                  <a:schemeClr val="bg1"/>
                </a:solidFill>
              </a:rPr>
              <a:t>✔ Higher Efficiency</a:t>
            </a:r>
          </a:p>
          <a:p>
            <a:pPr>
              <a:buNone/>
            </a:pPr>
            <a:r>
              <a:rPr lang="en-US" sz="3200" dirty="0">
                <a:solidFill>
                  <a:schemeClr val="bg1"/>
                </a:solidFill>
              </a:rPr>
              <a:t>✔ Smarter Planning</a:t>
            </a:r>
          </a:p>
          <a:p>
            <a:pPr>
              <a:buNone/>
            </a:pPr>
            <a:r>
              <a:rPr lang="en-US" sz="3200" dirty="0">
                <a:solidFill>
                  <a:schemeClr val="bg1"/>
                </a:solidFill>
              </a:rPr>
              <a:t>✔ Sustainable Operations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363</Words>
  <Application>Microsoft Office PowerPoint</Application>
  <PresentationFormat>Custom</PresentationFormat>
  <Paragraphs>129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Inter Bold</vt:lpstr>
      <vt:lpstr>Arial</vt:lpstr>
      <vt:lpstr>Red Hat Display Bold</vt:lpstr>
      <vt:lpstr>Calibri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ZEROX HACKATHON</dc:title>
  <dc:creator>Thenappan T</dc:creator>
  <cp:lastModifiedBy>Thenappan T</cp:lastModifiedBy>
  <cp:revision>3</cp:revision>
  <dcterms:created xsi:type="dcterms:W3CDTF">2006-08-16T00:00:00Z</dcterms:created>
  <dcterms:modified xsi:type="dcterms:W3CDTF">2026-07-09T08:03:48Z</dcterms:modified>
  <dc:identifier>DAHO3X_d-F8</dc:identifier>
</cp:coreProperties>
</file>